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7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Tomorrow Bold" charset="1" panose="00000000000000000000"/>
      <p:regular r:id="rId20"/>
    </p:embeddedFont>
    <p:embeddedFont>
      <p:font typeface="Tomorrow" charset="1" panose="00000000000000000000"/>
      <p:regular r:id="rId21"/>
    </p:embeddedFont>
    <p:embeddedFont>
      <p:font typeface="Poppins" charset="1" panose="000005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notesMasters/notesMaster1.xml" Type="http://schemas.openxmlformats.org/officeDocument/2006/relationships/notesMaster"/><Relationship Id="rId18" Target="theme/theme2.xml" Type="http://schemas.openxmlformats.org/officeDocument/2006/relationships/theme"/><Relationship Id="rId19" Target="notesSlides/notesSlide1.xml" Type="http://schemas.openxmlformats.org/officeDocument/2006/relationships/notes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notesSlides/notesSlide2.xml" Type="http://schemas.openxmlformats.org/officeDocument/2006/relationships/notesSlide"/><Relationship Id="rId23" Target="fonts/font23.fntdata" Type="http://schemas.openxmlformats.org/officeDocument/2006/relationships/font"/><Relationship Id="rId24" Target="notesSlides/notesSlide3.xml" Type="http://schemas.openxmlformats.org/officeDocument/2006/relationships/notesSlide"/><Relationship Id="rId25" Target="notesSlides/notesSlide4.xml" Type="http://schemas.openxmlformats.org/officeDocument/2006/relationships/notesSlide"/><Relationship Id="rId26" Target="notesSlides/notesSlide5.xml" Type="http://schemas.openxmlformats.org/officeDocument/2006/relationships/notesSlide"/><Relationship Id="rId27" Target="notesSlides/notesSlide6.xml" Type="http://schemas.openxmlformats.org/officeDocument/2006/relationships/notesSlide"/><Relationship Id="rId28" Target="notesSlides/notesSlide7.xml" Type="http://schemas.openxmlformats.org/officeDocument/2006/relationships/notesSlide"/><Relationship Id="rId29" Target="notesSlides/notesSlide8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9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Good afternoon, I'm Kailyn Philpot, and today I’ll be presenting my data analysis project exploring cybersecurity threats over the last decade.</a:t>
            </a:r>
          </a:p>
          <a:p>
            <a:r>
              <a:rPr lang="en-US"/>
              <a:t/>
            </a:r>
          </a:p>
          <a:p>
            <a:r>
              <a:rPr lang="en-US"/>
              <a:t>Before diving into the data, it’s important to understand why cybersecurity is a major global issue.Cyberattacks today don't just target individuals — they impact governments, banks, hospitals, and entire countries.</a:t>
            </a:r>
          </a:p>
          <a:p>
            <a:r>
              <a:rPr lang="en-US"/>
              <a:t>A real-world example is the hacking group Anonymous. Over the last decade, they launched cyberattacks against government websites, corporations, and financial institutions around the world to make political statements.</a:t>
            </a:r>
          </a:p>
          <a:p>
            <a:r>
              <a:rPr lang="en-US"/>
              <a:t>Their actions showed how a few people with technical skills could disrupt major systems — exposing vulnerabilities we often take for granted.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The goal of this project is to study cybersecurity attacks that happened around the world between 2015 and 2024. I will look at what types of attacks happened most often, which industries were targeted, and how much money was lost. This will help show trends in cybersecurity risks and give a better idea of how these attacks have affected businesses and users over time.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"The 'Year Interval' column helped simplify the timeline by grouping incidents into periods.</a:t>
            </a:r>
          </a:p>
          <a:p>
            <a:r>
              <a:rPr lang="en-US"/>
              <a:t>It made it easier to spot broader patterns in cybersecurity attacks over multiple years, not just year-by-year changes."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"The 'Loss per User' column allowed me to see which attacks were most damaging on a per-person basis.</a:t>
            </a:r>
          </a:p>
          <a:p>
            <a:r>
              <a:rPr lang="en-US"/>
              <a:t>It showed not just how big an attack was overall, but how severe it was for each individual affected."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his chart shows the ten countries that experienced the highest total financial losses from cybersecurity incidents between 2015 and 2024.</a:t>
            </a:r>
          </a:p>
          <a:p>
            <a:r>
              <a:rPr lang="en-US"/>
              <a:t>The United Kingdom ranks first, followed by Germany and Brazil, which is somewhat surprising given the expectation that the United States or China would typically dominate.</a:t>
            </a:r>
          </a:p>
          <a:p>
            <a:r>
              <a:rPr lang="en-US"/>
              <a:t>This suggests that cybercriminals are increasingly targeting a broader range of countries, not just the largest global economies.</a:t>
            </a:r>
          </a:p>
          <a:p>
            <a:r>
              <a:rPr lang="en-US"/>
              <a:t>It also highlights how developed digital infrastructures — like those in Europe and South America — are vulnerable to costly attacks if defenses are not strong enough.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This heatmap shows the number of cybersecurity incidents by attack type across each year from 2015 to 2024.</a:t>
            </a:r>
          </a:p>
          <a:p>
            <a:r>
              <a:rPr lang="en-US"/>
              <a:t>The darker colors represent a higher number of incidents, while lighter colors represent fewer incidents.</a:t>
            </a:r>
          </a:p>
          <a:p>
            <a:r>
              <a:rPr lang="en-US"/>
              <a:t>As we can see, phishing consistently had the highest frequency every year, making it the most common attack type across the entire period.</a:t>
            </a:r>
          </a:p>
          <a:p>
            <a:r>
              <a:rPr lang="en-US"/>
              <a:t>However, starting around 2019, ransomware attacks began to rise significantly, indicating a shift in attacker strategy toward more financially motivated and damaging attacks.</a:t>
            </a:r>
          </a:p>
          <a:p>
            <a:r>
              <a:rPr lang="en-US"/>
              <a:t>Other attack types like malware and insider threats remained relatively stable in frequency without major spikes.</a:t>
            </a:r>
          </a:p>
          <a:p>
            <a:r>
              <a:rPr lang="en-US"/>
              <a:t>Overall, this view helps highlight both the persistence of traditional threats and the emergence of newer, more aggressive ones in recent years."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This boxplot shows the distribution of financial losses from cybersecurity incidents between 2015 and 2024.</a:t>
            </a:r>
          </a:p>
          <a:p>
            <a:r>
              <a:rPr lang="en-US"/>
              <a:t>In a boxplot, the middle box represents the range between the 25th and 75th percentiles, with the line inside showing the median financial loss.</a:t>
            </a:r>
          </a:p>
          <a:p>
            <a:r>
              <a:rPr lang="en-US"/>
              <a:t>The lines extending out, or whiskers, represent the general spread of the data.</a:t>
            </a:r>
          </a:p>
          <a:p>
            <a:r>
              <a:rPr lang="en-US"/>
              <a:t>As we can see, most financial losses fall within a moderate range, and there are no extreme outliers shown beyond the whiskers.</a:t>
            </a:r>
          </a:p>
          <a:p>
            <a:r>
              <a:rPr lang="en-US"/>
              <a:t>This suggests that while losses vary, most incidents stayed within a relatively predictable band without unusually massive loss events skewing the data.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This boxplot compares how long different types of cybersecurity attacks took to resolve, measured in hours.</a:t>
            </a:r>
          </a:p>
          <a:p>
            <a:r>
              <a:rPr lang="en-US"/>
              <a:t>Each box shows the distribution of resolution times for each attack type, and the median line inside each box represents the typical resolution time.</a:t>
            </a:r>
          </a:p>
          <a:p>
            <a:r>
              <a:rPr lang="en-US"/>
              <a:t>What’s noticeable is that the median resolution times across all attack types are very similar, and the interquartile ranges are also fairly consistent.</a:t>
            </a:r>
          </a:p>
          <a:p>
            <a:r>
              <a:rPr lang="en-US"/>
              <a:t>This means that regardless of the attack type — whether phishing, ransomware, insider threats, or malware — most incidents were resolved within roughly the same time frame.</a:t>
            </a:r>
          </a:p>
          <a:p>
            <a:r>
              <a:rPr lang="en-US"/>
              <a:t>The data suggests that organizational response processes may be standardized, handling different types of attacks with similar efficiency.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This line graph shows the total financial loss from cybersecurity incidents each year between 2015 and 2024.</a:t>
            </a:r>
          </a:p>
          <a:p>
            <a:r>
              <a:rPr lang="en-US"/>
              <a:t>Each point represents the combined financial loss recorded for that year, and the line helps visualize the trend over time.</a:t>
            </a:r>
          </a:p>
          <a:p>
            <a:r>
              <a:rPr lang="en-US"/>
              <a:t>We can see that financial losses were relatively stable early on but started to increase sharply after 2018, peaking around 2022.</a:t>
            </a:r>
          </a:p>
          <a:p>
            <a:r>
              <a:rPr lang="en-US"/>
              <a:t>This trend suggests that the financial impact of cybersecurity attacks has been growing, possibly due to the rise of more complex and costly attack methods like ransomware.</a:t>
            </a:r>
          </a:p>
          <a:p>
            <a:r>
              <a:rPr lang="en-US"/>
              <a:t>It highlights how cybersecurity risks are becoming not just more common, but also much more expensive for organizations globally.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Good afternoon, I'm Kailyn Philpot, and today I’ll be presenting my data analysis project exploring cybersecurity threats over the last decade.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62120"/>
            <a:chOff x="0" y="0"/>
            <a:chExt cx="4816593" cy="270278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2781"/>
            </a:xfrm>
            <a:custGeom>
              <a:avLst/>
              <a:gdLst/>
              <a:ahLst/>
              <a:cxnLst/>
              <a:rect r="r" b="b" t="t" l="l"/>
              <a:pathLst>
                <a:path h="270278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2781"/>
                  </a:lnTo>
                  <a:lnTo>
                    <a:pt x="0" y="2702781"/>
                  </a:lnTo>
                  <a:close/>
                </a:path>
              </a:pathLst>
            </a:custGeom>
            <a:solidFill>
              <a:srgbClr val="0D232D">
                <a:alpha val="32941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4816593" cy="27599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3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358639" y="7333291"/>
            <a:ext cx="159633" cy="299653"/>
          </a:xfrm>
          <a:custGeom>
            <a:avLst/>
            <a:gdLst/>
            <a:ahLst/>
            <a:cxnLst/>
            <a:rect r="r" b="b" t="t" l="l"/>
            <a:pathLst>
              <a:path h="299653" w="159633">
                <a:moveTo>
                  <a:pt x="0" y="0"/>
                </a:moveTo>
                <a:lnTo>
                  <a:pt x="159633" y="0"/>
                </a:lnTo>
                <a:lnTo>
                  <a:pt x="159633" y="299652"/>
                </a:lnTo>
                <a:lnTo>
                  <a:pt x="0" y="2996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904966" y="3391563"/>
            <a:ext cx="14478069" cy="2587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72"/>
              </a:lnSpc>
            </a:pPr>
            <a:r>
              <a:rPr lang="en-US" b="true" sz="8769">
                <a:solidFill>
                  <a:srgbClr val="F3F3F2"/>
                </a:solidFill>
                <a:latin typeface="Tomorrow Bold"/>
                <a:ea typeface="Tomorrow Bold"/>
                <a:cs typeface="Tomorrow Bold"/>
                <a:sym typeface="Tomorrow Bold"/>
              </a:rPr>
              <a:t>Review of Cybersecurity Breaches Worldwide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601273" y="6186937"/>
            <a:ext cx="7085454" cy="513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1"/>
              </a:lnSpc>
            </a:pPr>
            <a:r>
              <a:rPr lang="en-US" sz="3051" spc="192">
                <a:solidFill>
                  <a:srgbClr val="F3F3F2"/>
                </a:solidFill>
                <a:latin typeface="Tomorrow"/>
                <a:ea typeface="Tomorrow"/>
                <a:cs typeface="Tomorrow"/>
                <a:sym typeface="Tomorrow"/>
              </a:rPr>
              <a:t>Kailyn Philpot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2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17583863" y="6288091"/>
            <a:ext cx="5744070" cy="6765450"/>
            <a:chOff x="0" y="0"/>
            <a:chExt cx="455234" cy="5361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5234" cy="536182"/>
            </a:xfrm>
            <a:custGeom>
              <a:avLst/>
              <a:gdLst/>
              <a:ahLst/>
              <a:cxnLst/>
              <a:rect r="r" b="b" t="t" l="l"/>
              <a:pathLst>
                <a:path h="536182" w="455234">
                  <a:moveTo>
                    <a:pt x="203200" y="0"/>
                  </a:moveTo>
                  <a:lnTo>
                    <a:pt x="455234" y="0"/>
                  </a:lnTo>
                  <a:lnTo>
                    <a:pt x="252034" y="536182"/>
                  </a:lnTo>
                  <a:lnTo>
                    <a:pt x="0" y="536182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A3D7D8">
                    <a:alpha val="100000"/>
                  </a:srgbClr>
                </a:gs>
                <a:gs pos="100000">
                  <a:srgbClr val="489EAB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101600" y="-57150"/>
              <a:ext cx="252034" cy="5933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3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5400000">
            <a:off x="15790365" y="-510690"/>
            <a:ext cx="5744070" cy="6765450"/>
            <a:chOff x="0" y="0"/>
            <a:chExt cx="455234" cy="53618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55234" cy="536182"/>
            </a:xfrm>
            <a:custGeom>
              <a:avLst/>
              <a:gdLst/>
              <a:ahLst/>
              <a:cxnLst/>
              <a:rect r="r" b="b" t="t" l="l"/>
              <a:pathLst>
                <a:path h="536182" w="455234">
                  <a:moveTo>
                    <a:pt x="203200" y="0"/>
                  </a:moveTo>
                  <a:lnTo>
                    <a:pt x="455234" y="0"/>
                  </a:lnTo>
                  <a:lnTo>
                    <a:pt x="252034" y="536182"/>
                  </a:lnTo>
                  <a:lnTo>
                    <a:pt x="0" y="536182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A3D7D8">
                    <a:alpha val="100000"/>
                  </a:srgbClr>
                </a:gs>
                <a:gs pos="100000">
                  <a:srgbClr val="489EAB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101600" y="-57150"/>
              <a:ext cx="252034" cy="5933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3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378285" y="3475066"/>
            <a:ext cx="5608171" cy="4211227"/>
            <a:chOff x="0" y="0"/>
            <a:chExt cx="7477562" cy="561496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477562" cy="5614969"/>
            </a:xfrm>
            <a:custGeom>
              <a:avLst/>
              <a:gdLst/>
              <a:ahLst/>
              <a:cxnLst/>
              <a:rect r="r" b="b" t="t" l="l"/>
              <a:pathLst>
                <a:path h="5614969" w="7477562">
                  <a:moveTo>
                    <a:pt x="0" y="0"/>
                  </a:moveTo>
                  <a:lnTo>
                    <a:pt x="7477562" y="0"/>
                  </a:lnTo>
                  <a:lnTo>
                    <a:pt x="7477562" y="5614969"/>
                  </a:lnTo>
                  <a:lnTo>
                    <a:pt x="0" y="56149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 rot="0">
              <a:off x="571873" y="1247081"/>
              <a:ext cx="6514957" cy="30776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28"/>
                </a:lnSpc>
              </a:pPr>
              <a:r>
                <a:rPr lang="en-US" sz="2314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The goal of this project was to explore patterns in global cybersecurity incidents, focusing on attack types, financial losses, and trends over time.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2063546" y="511708"/>
              <a:ext cx="3350470" cy="7569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78"/>
                </a:lnSpc>
              </a:pPr>
              <a:r>
                <a:rPr lang="en-US" sz="3412">
                  <a:solidFill>
                    <a:srgbClr val="FFFFFF"/>
                  </a:solidFill>
                  <a:latin typeface="Tomorrow"/>
                  <a:ea typeface="Tomorrow"/>
                  <a:cs typeface="Tomorrow"/>
                  <a:sym typeface="Tomorrow"/>
                </a:rPr>
                <a:t>Why?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483764" y="3055119"/>
            <a:ext cx="5429234" cy="4076861"/>
          </a:xfrm>
          <a:custGeom>
            <a:avLst/>
            <a:gdLst/>
            <a:ahLst/>
            <a:cxnLst/>
            <a:rect r="r" b="b" t="t" l="l"/>
            <a:pathLst>
              <a:path h="4076861" w="5429234">
                <a:moveTo>
                  <a:pt x="0" y="0"/>
                </a:moveTo>
                <a:lnTo>
                  <a:pt x="5429234" y="0"/>
                </a:lnTo>
                <a:lnTo>
                  <a:pt x="5429234" y="4076861"/>
                </a:lnTo>
                <a:lnTo>
                  <a:pt x="0" y="40768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6319290" y="5491988"/>
            <a:ext cx="5649421" cy="4242201"/>
          </a:xfrm>
          <a:custGeom>
            <a:avLst/>
            <a:gdLst/>
            <a:ahLst/>
            <a:cxnLst/>
            <a:rect r="r" b="b" t="t" l="l"/>
            <a:pathLst>
              <a:path h="4242201" w="5649421">
                <a:moveTo>
                  <a:pt x="0" y="0"/>
                </a:moveTo>
                <a:lnTo>
                  <a:pt x="5649420" y="0"/>
                </a:lnTo>
                <a:lnTo>
                  <a:pt x="5649420" y="4242202"/>
                </a:lnTo>
                <a:lnTo>
                  <a:pt x="0" y="42422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103674" y="4070896"/>
            <a:ext cx="4809324" cy="2727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9"/>
              </a:lnSpc>
            </a:pPr>
            <a:r>
              <a:rPr lang="en-US" sz="224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This dataset tracks cybersecurity incidents from 2015 to 2024, including attack types, industries affected, financial losses, user impact, and resolution times.</a:t>
            </a:r>
          </a:p>
          <a:p>
            <a:pPr algn="l">
              <a:lnSpc>
                <a:spcPts val="3609"/>
              </a:lnSpc>
            </a:pPr>
            <a:r>
              <a:rPr lang="en-US" sz="224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785424" y="6694006"/>
            <a:ext cx="5183287" cy="2566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0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Studying incidents from 2015 to 2024 shows how cybersecurity threats have evolved recently and helps predict future risks as technology and attack methods continue to change.</a:t>
            </a:r>
          </a:p>
          <a:p>
            <a:pPr algn="l">
              <a:lnSpc>
                <a:spcPts val="3374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1462389" y="3408391"/>
            <a:ext cx="3769664" cy="567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5"/>
              </a:lnSpc>
            </a:pPr>
            <a:r>
              <a:rPr lang="en-US" sz="3304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What?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302385" y="6113526"/>
            <a:ext cx="3683229" cy="597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13"/>
              </a:lnSpc>
            </a:pPr>
            <a:r>
              <a:rPr lang="en-US" sz="3438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When?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14827" y="1544377"/>
            <a:ext cx="15858347" cy="739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0"/>
              </a:lnSpc>
            </a:pPr>
            <a:r>
              <a:rPr lang="en-US" sz="4957">
                <a:solidFill>
                  <a:srgbClr val="F3F3F2"/>
                </a:solidFill>
                <a:latin typeface="Tomorrow"/>
                <a:ea typeface="Tomorrow"/>
                <a:cs typeface="Tomorrow"/>
                <a:sym typeface="Tomorrow"/>
              </a:rPr>
              <a:t>Dataset: Global Cybersecurity Threats (2015-2025)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0D2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642712" y="3870960"/>
            <a:ext cx="1067993" cy="1067993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3D7D8">
                    <a:alpha val="24000"/>
                  </a:srgbClr>
                </a:gs>
                <a:gs pos="100000">
                  <a:srgbClr val="489EAB">
                    <a:alpha val="24000"/>
                  </a:srgbClr>
                </a:gs>
              </a:gsLst>
              <a:lin ang="2700000"/>
            </a:gradFill>
            <a:ln w="38100" cap="sq">
              <a:solidFill>
                <a:srgbClr val="FFFFFF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3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642712" y="5751015"/>
            <a:ext cx="1013953" cy="1013953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3D7D8">
                    <a:alpha val="24000"/>
                  </a:srgbClr>
                </a:gs>
                <a:gs pos="100000">
                  <a:srgbClr val="489EAB">
                    <a:alpha val="24000"/>
                  </a:srgbClr>
                </a:gs>
              </a:gsLst>
              <a:lin ang="2700000"/>
            </a:gradFill>
            <a:ln w="38100" cap="sq">
              <a:solidFill>
                <a:srgbClr val="FFFFFF">
                  <a:alpha val="23922"/>
                </a:srgbClr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3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256108" y="-281150"/>
            <a:ext cx="4729289" cy="7036774"/>
            <a:chOff x="0" y="0"/>
            <a:chExt cx="470211" cy="69963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70211" cy="699634"/>
            </a:xfrm>
            <a:custGeom>
              <a:avLst/>
              <a:gdLst/>
              <a:ahLst/>
              <a:cxnLst/>
              <a:rect r="r" b="b" t="t" l="l"/>
              <a:pathLst>
                <a:path h="699634" w="470211">
                  <a:moveTo>
                    <a:pt x="203200" y="0"/>
                  </a:moveTo>
                  <a:lnTo>
                    <a:pt x="470211" y="0"/>
                  </a:lnTo>
                  <a:lnTo>
                    <a:pt x="267011" y="699634"/>
                  </a:lnTo>
                  <a:lnTo>
                    <a:pt x="0" y="699634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A3D7D8">
                    <a:alpha val="100000"/>
                  </a:srgbClr>
                </a:gs>
                <a:gs pos="100000">
                  <a:srgbClr val="489EAB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101600" y="-57150"/>
              <a:ext cx="267011" cy="7567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3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538309" y="-3058248"/>
            <a:ext cx="4082444" cy="6497124"/>
            <a:chOff x="0" y="0"/>
            <a:chExt cx="474358" cy="75493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74358" cy="754931"/>
            </a:xfrm>
            <a:custGeom>
              <a:avLst/>
              <a:gdLst/>
              <a:ahLst/>
              <a:cxnLst/>
              <a:rect r="r" b="b" t="t" l="l"/>
              <a:pathLst>
                <a:path h="754931" w="474358">
                  <a:moveTo>
                    <a:pt x="203200" y="0"/>
                  </a:moveTo>
                  <a:lnTo>
                    <a:pt x="474358" y="0"/>
                  </a:lnTo>
                  <a:lnTo>
                    <a:pt x="271158" y="754931"/>
                  </a:lnTo>
                  <a:lnTo>
                    <a:pt x="0" y="754931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A3D7D8">
                    <a:alpha val="100000"/>
                  </a:srgbClr>
                </a:gs>
                <a:gs pos="100000">
                  <a:srgbClr val="489EAB">
                    <a:alpha val="100000"/>
                  </a:srgbClr>
                </a:gs>
              </a:gsLst>
              <a:lin ang="2700000"/>
            </a:gradFill>
            <a:ln w="12700">
              <a:solidFill>
                <a:srgbClr val="000000"/>
              </a:solidFill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6620753" y="3237237"/>
            <a:ext cx="4082444" cy="6497124"/>
            <a:chOff x="0" y="0"/>
            <a:chExt cx="474358" cy="75493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74358" cy="754931"/>
            </a:xfrm>
            <a:custGeom>
              <a:avLst/>
              <a:gdLst/>
              <a:ahLst/>
              <a:cxnLst/>
              <a:rect r="r" b="b" t="t" l="l"/>
              <a:pathLst>
                <a:path h="754931" w="474358">
                  <a:moveTo>
                    <a:pt x="203200" y="0"/>
                  </a:moveTo>
                  <a:lnTo>
                    <a:pt x="474358" y="0"/>
                  </a:lnTo>
                  <a:lnTo>
                    <a:pt x="271158" y="754931"/>
                  </a:lnTo>
                  <a:lnTo>
                    <a:pt x="0" y="754931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A3D7D8">
                    <a:alpha val="100000"/>
                  </a:srgbClr>
                </a:gs>
                <a:gs pos="100000">
                  <a:srgbClr val="489EAB">
                    <a:alpha val="100000"/>
                  </a:srgbClr>
                </a:gs>
              </a:gsLst>
              <a:lin ang="2700000"/>
            </a:gradFill>
            <a:ln w="12700">
              <a:solidFill>
                <a:srgbClr val="000000"/>
              </a:solidFill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2700776" y="4142998"/>
            <a:ext cx="951864" cy="533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47"/>
              </a:lnSpc>
            </a:pPr>
            <a:r>
              <a:rPr lang="en-US" sz="3575">
                <a:solidFill>
                  <a:srgbClr val="F3F3F2"/>
                </a:solidFill>
                <a:latin typeface="Tomorrow"/>
                <a:ea typeface="Tomorrow"/>
                <a:cs typeface="Tomorrow"/>
                <a:sym typeface="Tomorrow"/>
              </a:rPr>
              <a:t>01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697838" y="6000245"/>
            <a:ext cx="903700" cy="515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37"/>
              </a:lnSpc>
            </a:pPr>
            <a:r>
              <a:rPr lang="en-US" sz="3394">
                <a:solidFill>
                  <a:srgbClr val="F3F3F2"/>
                </a:solidFill>
                <a:latin typeface="Tomorrow"/>
                <a:ea typeface="Tomorrow"/>
                <a:cs typeface="Tomorrow"/>
                <a:sym typeface="Tomorrow"/>
              </a:rPr>
              <a:t>02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956191" y="4300783"/>
            <a:ext cx="8506362" cy="842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7"/>
              </a:lnSpc>
            </a:pPr>
            <a:r>
              <a:rPr lang="en-US" sz="212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 checked for null values and duplicates, however there were none within this dataset, which made it very easy to work with.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081009" y="6179090"/>
            <a:ext cx="8465679" cy="1173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1"/>
              </a:lnSpc>
            </a:pPr>
            <a:r>
              <a:rPr lang="en-US" sz="196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 converted the 'Year' column into a categorical type because 'Year' is better treated as a label for grouping events, not as a number we perform calculations on like addition or averaging.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956191" y="3804285"/>
            <a:ext cx="8946482" cy="499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09"/>
              </a:lnSpc>
            </a:pPr>
            <a:r>
              <a:rPr lang="en-US" sz="2863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Handling Missing Values &amp; Removing Duplicates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2698714" y="7933982"/>
            <a:ext cx="9895597" cy="1707903"/>
            <a:chOff x="0" y="0"/>
            <a:chExt cx="13194129" cy="2277204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1373420" cy="1373420"/>
              <a:chOff x="0" y="0"/>
              <a:chExt cx="812800" cy="8128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A3D7D8">
                      <a:alpha val="24000"/>
                    </a:srgbClr>
                  </a:gs>
                  <a:gs pos="100000">
                    <a:srgbClr val="489EAB">
                      <a:alpha val="24000"/>
                    </a:srgbClr>
                  </a:gs>
                </a:gsLst>
                <a:lin ang="2700000"/>
              </a:gradFill>
              <a:ln w="38100" cap="sq">
                <a:solidFill>
                  <a:srgbClr val="FFFFFF">
                    <a:alpha val="23922"/>
                  </a:srgbClr>
                </a:solidFill>
                <a:prstDash val="solid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03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74670" y="337587"/>
              <a:ext cx="1224080" cy="6982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000"/>
                </a:lnSpc>
              </a:pPr>
              <a:r>
                <a:rPr lang="en-US" sz="3448">
                  <a:solidFill>
                    <a:srgbClr val="F3F3F2"/>
                  </a:solidFill>
                  <a:latin typeface="Tomorrow"/>
                  <a:ea typeface="Tomorrow"/>
                  <a:cs typeface="Tomorrow"/>
                  <a:sym typeface="Tomorrow"/>
                </a:rPr>
                <a:t>03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1948204" y="613605"/>
              <a:ext cx="10359120" cy="16635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83"/>
                </a:lnSpc>
              </a:pPr>
              <a:r>
                <a:rPr lang="en-US" sz="209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It helped spot trends across eras, not just single years. It gave a more precise picture of attack severity.</a:t>
              </a:r>
            </a:p>
            <a:p>
              <a:pPr algn="l">
                <a:lnSpc>
                  <a:spcPts val="3383"/>
                </a:lnSpc>
              </a:pP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1948204" y="-20297"/>
              <a:ext cx="11245926" cy="11882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39"/>
                </a:lnSpc>
              </a:pPr>
              <a:r>
                <a:rPr lang="en-US" sz="2599">
                  <a:solidFill>
                    <a:srgbClr val="FFFFFF"/>
                  </a:solidFill>
                  <a:latin typeface="Tomorrow"/>
                  <a:ea typeface="Tomorrow"/>
                  <a:cs typeface="Tomorrow"/>
                  <a:sym typeface="Tomorrow"/>
                </a:rPr>
                <a:t>Created new columns: Loss per User, Year Interval</a:t>
              </a:r>
            </a:p>
            <a:p>
              <a:pPr algn="l">
                <a:lnSpc>
                  <a:spcPts val="363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2698714" y="1371485"/>
            <a:ext cx="11197480" cy="804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14"/>
              </a:lnSpc>
            </a:pPr>
            <a:r>
              <a:rPr lang="en-US" sz="5357">
                <a:solidFill>
                  <a:srgbClr val="F3F3F2"/>
                </a:solidFill>
                <a:latin typeface="Tomorrow"/>
                <a:ea typeface="Tomorrow"/>
                <a:cs typeface="Tomorrow"/>
                <a:sym typeface="Tomorrow"/>
              </a:rPr>
              <a:t>Data Cleaning and Preparation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081009" y="5645586"/>
            <a:ext cx="8821664" cy="497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82"/>
              </a:lnSpc>
            </a:pPr>
            <a:r>
              <a:rPr lang="en-US" sz="2916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Converted 'Year' column to categorical type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0D2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744247" y="-202937"/>
            <a:ext cx="5744070" cy="8996366"/>
            <a:chOff x="0" y="0"/>
            <a:chExt cx="455234" cy="7129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5234" cy="712988"/>
            </a:xfrm>
            <a:custGeom>
              <a:avLst/>
              <a:gdLst/>
              <a:ahLst/>
              <a:cxnLst/>
              <a:rect r="r" b="b" t="t" l="l"/>
              <a:pathLst>
                <a:path h="712988" w="455234">
                  <a:moveTo>
                    <a:pt x="203200" y="0"/>
                  </a:moveTo>
                  <a:lnTo>
                    <a:pt x="455234" y="0"/>
                  </a:lnTo>
                  <a:lnTo>
                    <a:pt x="252034" y="712988"/>
                  </a:lnTo>
                  <a:lnTo>
                    <a:pt x="0" y="712988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A3D7D8">
                    <a:alpha val="100000"/>
                  </a:srgbClr>
                </a:gs>
                <a:gs pos="100000">
                  <a:srgbClr val="489EAB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101600" y="-57150"/>
              <a:ext cx="252034" cy="7701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3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616283" y="2489825"/>
            <a:ext cx="5671717" cy="8482024"/>
            <a:chOff x="0" y="0"/>
            <a:chExt cx="476758" cy="71298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76758" cy="712988"/>
            </a:xfrm>
            <a:custGeom>
              <a:avLst/>
              <a:gdLst/>
              <a:ahLst/>
              <a:cxnLst/>
              <a:rect r="r" b="b" t="t" l="l"/>
              <a:pathLst>
                <a:path h="712988" w="476758">
                  <a:moveTo>
                    <a:pt x="203200" y="0"/>
                  </a:moveTo>
                  <a:lnTo>
                    <a:pt x="476758" y="0"/>
                  </a:lnTo>
                  <a:lnTo>
                    <a:pt x="273558" y="712988"/>
                  </a:lnTo>
                  <a:lnTo>
                    <a:pt x="0" y="712988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A3D7D8">
                    <a:alpha val="100000"/>
                  </a:srgbClr>
                </a:gs>
                <a:gs pos="100000">
                  <a:srgbClr val="489EAB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101600" y="-57150"/>
              <a:ext cx="273558" cy="7701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3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397987" y="3338852"/>
            <a:ext cx="7746013" cy="4391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94"/>
              </a:lnSpc>
            </a:pPr>
          </a:p>
          <a:p>
            <a:pPr algn="l">
              <a:lnSpc>
                <a:spcPts val="4994"/>
              </a:lnSpc>
            </a:pPr>
            <a:r>
              <a:rPr lang="en-US" sz="30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Findings:</a:t>
            </a:r>
          </a:p>
          <a:p>
            <a:pPr algn="l" marL="669281" indent="-334641" lvl="1">
              <a:lnSpc>
                <a:spcPts val="4994"/>
              </a:lnSpc>
              <a:buFont typeface="Arial"/>
              <a:buChar char="•"/>
            </a:pPr>
            <a:r>
              <a:rPr lang="en-US" sz="30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Top countries: UK, Germany, Brazil</a:t>
            </a:r>
          </a:p>
          <a:p>
            <a:pPr algn="l" marL="669281" indent="-334641" lvl="1">
              <a:lnSpc>
                <a:spcPts val="4994"/>
              </a:lnSpc>
              <a:buFont typeface="Arial"/>
              <a:buChar char="•"/>
            </a:pPr>
            <a:r>
              <a:rPr lang="en-US" sz="30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Top industries: Finance, Healthcare</a:t>
            </a:r>
          </a:p>
          <a:p>
            <a:pPr algn="l" marL="669281" indent="-334641" lvl="1">
              <a:lnSpc>
                <a:spcPts val="4994"/>
              </a:lnSpc>
              <a:buFont typeface="Arial"/>
              <a:buChar char="•"/>
            </a:pPr>
            <a:r>
              <a:rPr lang="en-US" sz="30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Common attacks: Phishing, Ransomware</a:t>
            </a:r>
          </a:p>
          <a:p>
            <a:pPr algn="l">
              <a:lnSpc>
                <a:spcPts val="4994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988858" y="2092550"/>
            <a:ext cx="8755389" cy="804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14"/>
              </a:lnSpc>
            </a:pPr>
            <a:r>
              <a:rPr lang="en-US" sz="5357">
                <a:solidFill>
                  <a:srgbClr val="F3F3F2"/>
                </a:solidFill>
                <a:latin typeface="Tomorrow"/>
                <a:ea typeface="Tomorrow"/>
                <a:cs typeface="Tomorrow"/>
                <a:sym typeface="Tomorrow"/>
              </a:rPr>
              <a:t>Exploratory Data Analysis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2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0" y="-1350947"/>
            <a:ext cx="11563599" cy="6434348"/>
            <a:chOff x="0" y="0"/>
            <a:chExt cx="1149715" cy="63973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49715" cy="639737"/>
            </a:xfrm>
            <a:custGeom>
              <a:avLst/>
              <a:gdLst/>
              <a:ahLst/>
              <a:cxnLst/>
              <a:rect r="r" b="b" t="t" l="l"/>
              <a:pathLst>
                <a:path h="639737" w="1149715">
                  <a:moveTo>
                    <a:pt x="203200" y="0"/>
                  </a:moveTo>
                  <a:lnTo>
                    <a:pt x="1149715" y="0"/>
                  </a:lnTo>
                  <a:lnTo>
                    <a:pt x="946515" y="639737"/>
                  </a:lnTo>
                  <a:lnTo>
                    <a:pt x="0" y="639737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A3D7D8">
                    <a:alpha val="100000"/>
                  </a:srgbClr>
                </a:gs>
                <a:gs pos="100000">
                  <a:srgbClr val="489EAB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101600" y="-57150"/>
              <a:ext cx="946515" cy="6968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3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81618" y="2303503"/>
            <a:ext cx="12612780" cy="7395463"/>
          </a:xfrm>
          <a:custGeom>
            <a:avLst/>
            <a:gdLst/>
            <a:ahLst/>
            <a:cxnLst/>
            <a:rect r="r" b="b" t="t" l="l"/>
            <a:pathLst>
              <a:path h="7395463" w="12612780">
                <a:moveTo>
                  <a:pt x="0" y="0"/>
                </a:moveTo>
                <a:lnTo>
                  <a:pt x="12612780" y="0"/>
                </a:lnTo>
                <a:lnTo>
                  <a:pt x="12612780" y="7395463"/>
                </a:lnTo>
                <a:lnTo>
                  <a:pt x="0" y="73954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8452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431735"/>
            <a:ext cx="12899772" cy="1579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14"/>
              </a:lnSpc>
            </a:pPr>
            <a:r>
              <a:rPr lang="en-US" sz="5357">
                <a:solidFill>
                  <a:srgbClr val="F3F3F2"/>
                </a:solidFill>
                <a:latin typeface="Tomorrow"/>
                <a:ea typeface="Tomorrow"/>
                <a:cs typeface="Tomorrow"/>
                <a:sym typeface="Tomorrow"/>
              </a:rPr>
              <a:t>Exploratory Data Analysis:</a:t>
            </a:r>
          </a:p>
          <a:p>
            <a:pPr algn="l">
              <a:lnSpc>
                <a:spcPts val="6214"/>
              </a:lnSpc>
            </a:pPr>
            <a:r>
              <a:rPr lang="en-US" sz="5357">
                <a:solidFill>
                  <a:srgbClr val="F3F3F2"/>
                </a:solidFill>
                <a:latin typeface="Tomorrow"/>
                <a:ea typeface="Tomorrow"/>
                <a:cs typeface="Tomorrow"/>
                <a:sym typeface="Tomorrow"/>
              </a:rPr>
              <a:t>Top 10 Countries by Financial Loss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2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0" y="-1350947"/>
            <a:ext cx="11563599" cy="6434348"/>
            <a:chOff x="0" y="0"/>
            <a:chExt cx="1149715" cy="63973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49715" cy="639737"/>
            </a:xfrm>
            <a:custGeom>
              <a:avLst/>
              <a:gdLst/>
              <a:ahLst/>
              <a:cxnLst/>
              <a:rect r="r" b="b" t="t" l="l"/>
              <a:pathLst>
                <a:path h="639737" w="1149715">
                  <a:moveTo>
                    <a:pt x="203200" y="0"/>
                  </a:moveTo>
                  <a:lnTo>
                    <a:pt x="1149715" y="0"/>
                  </a:lnTo>
                  <a:lnTo>
                    <a:pt x="946515" y="639737"/>
                  </a:lnTo>
                  <a:lnTo>
                    <a:pt x="0" y="639737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A3D7D8">
                    <a:alpha val="100000"/>
                  </a:srgbClr>
                </a:gs>
                <a:gs pos="100000">
                  <a:srgbClr val="489EAB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101600" y="-57150"/>
              <a:ext cx="946515" cy="6968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3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980879" y="2190654"/>
            <a:ext cx="13294354" cy="7594400"/>
          </a:xfrm>
          <a:custGeom>
            <a:avLst/>
            <a:gdLst/>
            <a:ahLst/>
            <a:cxnLst/>
            <a:rect r="r" b="b" t="t" l="l"/>
            <a:pathLst>
              <a:path h="7594400" w="13294354">
                <a:moveTo>
                  <a:pt x="0" y="0"/>
                </a:moveTo>
                <a:lnTo>
                  <a:pt x="13294354" y="0"/>
                </a:lnTo>
                <a:lnTo>
                  <a:pt x="13294354" y="7594400"/>
                </a:lnTo>
                <a:lnTo>
                  <a:pt x="0" y="75944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431735"/>
            <a:ext cx="12899772" cy="1579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14"/>
              </a:lnSpc>
            </a:pPr>
            <a:r>
              <a:rPr lang="en-US" sz="5357">
                <a:solidFill>
                  <a:srgbClr val="F3F3F2"/>
                </a:solidFill>
                <a:latin typeface="Tomorrow"/>
                <a:ea typeface="Tomorrow"/>
                <a:cs typeface="Tomorrow"/>
                <a:sym typeface="Tomorrow"/>
              </a:rPr>
              <a:t>Exploratory Data Analysis:</a:t>
            </a:r>
          </a:p>
          <a:p>
            <a:pPr algn="l">
              <a:lnSpc>
                <a:spcPts val="6214"/>
              </a:lnSpc>
            </a:pPr>
            <a:r>
              <a:rPr lang="en-US" sz="5357">
                <a:solidFill>
                  <a:srgbClr val="F3F3F2"/>
                </a:solidFill>
                <a:latin typeface="Tomorrow"/>
                <a:ea typeface="Tomorrow"/>
                <a:cs typeface="Tomorrow"/>
                <a:sym typeface="Tomorrow"/>
              </a:rPr>
              <a:t>Attack Type Frequency Over Time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2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0" y="-1350947"/>
            <a:ext cx="11563599" cy="6434348"/>
            <a:chOff x="0" y="0"/>
            <a:chExt cx="1149715" cy="63973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49715" cy="639737"/>
            </a:xfrm>
            <a:custGeom>
              <a:avLst/>
              <a:gdLst/>
              <a:ahLst/>
              <a:cxnLst/>
              <a:rect r="r" b="b" t="t" l="l"/>
              <a:pathLst>
                <a:path h="639737" w="1149715">
                  <a:moveTo>
                    <a:pt x="203200" y="0"/>
                  </a:moveTo>
                  <a:lnTo>
                    <a:pt x="1149715" y="0"/>
                  </a:lnTo>
                  <a:lnTo>
                    <a:pt x="946515" y="639737"/>
                  </a:lnTo>
                  <a:lnTo>
                    <a:pt x="0" y="639737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A3D7D8">
                    <a:alpha val="100000"/>
                  </a:srgbClr>
                </a:gs>
                <a:gs pos="100000">
                  <a:srgbClr val="489EAB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101600" y="-57150"/>
              <a:ext cx="946515" cy="6968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3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2943434"/>
            <a:ext cx="14311354" cy="5396874"/>
          </a:xfrm>
          <a:custGeom>
            <a:avLst/>
            <a:gdLst/>
            <a:ahLst/>
            <a:cxnLst/>
            <a:rect r="r" b="b" t="t" l="l"/>
            <a:pathLst>
              <a:path h="5396874" w="14311354">
                <a:moveTo>
                  <a:pt x="0" y="0"/>
                </a:moveTo>
                <a:lnTo>
                  <a:pt x="14311354" y="0"/>
                </a:lnTo>
                <a:lnTo>
                  <a:pt x="14311354" y="5396875"/>
                </a:lnTo>
                <a:lnTo>
                  <a:pt x="0" y="53968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431735"/>
            <a:ext cx="12899772" cy="1579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14"/>
              </a:lnSpc>
            </a:pPr>
            <a:r>
              <a:rPr lang="en-US" sz="5357">
                <a:solidFill>
                  <a:srgbClr val="F3F3F2"/>
                </a:solidFill>
                <a:latin typeface="Tomorrow"/>
                <a:ea typeface="Tomorrow"/>
                <a:cs typeface="Tomorrow"/>
                <a:sym typeface="Tomorrow"/>
              </a:rPr>
              <a:t>Exploratory Data Analysis:</a:t>
            </a:r>
          </a:p>
          <a:p>
            <a:pPr algn="l">
              <a:lnSpc>
                <a:spcPts val="6214"/>
              </a:lnSpc>
            </a:pPr>
            <a:r>
              <a:rPr lang="en-US" sz="5357">
                <a:solidFill>
                  <a:srgbClr val="F3F3F2"/>
                </a:solidFill>
                <a:latin typeface="Tomorrow"/>
                <a:ea typeface="Tomorrow"/>
                <a:cs typeface="Tomorrow"/>
                <a:sym typeface="Tomorrow"/>
              </a:rPr>
              <a:t>Distribution of Financial Loss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2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0" y="-1350947"/>
            <a:ext cx="11563599" cy="6434348"/>
            <a:chOff x="0" y="0"/>
            <a:chExt cx="1149715" cy="63973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49715" cy="639737"/>
            </a:xfrm>
            <a:custGeom>
              <a:avLst/>
              <a:gdLst/>
              <a:ahLst/>
              <a:cxnLst/>
              <a:rect r="r" b="b" t="t" l="l"/>
              <a:pathLst>
                <a:path h="639737" w="1149715">
                  <a:moveTo>
                    <a:pt x="203200" y="0"/>
                  </a:moveTo>
                  <a:lnTo>
                    <a:pt x="1149715" y="0"/>
                  </a:lnTo>
                  <a:lnTo>
                    <a:pt x="946515" y="639737"/>
                  </a:lnTo>
                  <a:lnTo>
                    <a:pt x="0" y="639737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A3D7D8">
                    <a:alpha val="100000"/>
                  </a:srgbClr>
                </a:gs>
                <a:gs pos="100000">
                  <a:srgbClr val="489EAB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101600" y="-57150"/>
              <a:ext cx="946515" cy="6968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3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18761" y="2161329"/>
            <a:ext cx="12944209" cy="7766525"/>
          </a:xfrm>
          <a:custGeom>
            <a:avLst/>
            <a:gdLst/>
            <a:ahLst/>
            <a:cxnLst/>
            <a:rect r="r" b="b" t="t" l="l"/>
            <a:pathLst>
              <a:path h="7766525" w="12944209">
                <a:moveTo>
                  <a:pt x="0" y="0"/>
                </a:moveTo>
                <a:lnTo>
                  <a:pt x="12944209" y="0"/>
                </a:lnTo>
                <a:lnTo>
                  <a:pt x="12944209" y="7766525"/>
                </a:lnTo>
                <a:lnTo>
                  <a:pt x="0" y="77665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431735"/>
            <a:ext cx="12899772" cy="1579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14"/>
              </a:lnSpc>
            </a:pPr>
            <a:r>
              <a:rPr lang="en-US" sz="5357">
                <a:solidFill>
                  <a:srgbClr val="F3F3F2"/>
                </a:solidFill>
                <a:latin typeface="Tomorrow"/>
                <a:ea typeface="Tomorrow"/>
                <a:cs typeface="Tomorrow"/>
                <a:sym typeface="Tomorrow"/>
              </a:rPr>
              <a:t>Exploratory Data Analysis:</a:t>
            </a:r>
          </a:p>
          <a:p>
            <a:pPr algn="l">
              <a:lnSpc>
                <a:spcPts val="6214"/>
              </a:lnSpc>
            </a:pPr>
            <a:r>
              <a:rPr lang="en-US" sz="5357">
                <a:solidFill>
                  <a:srgbClr val="F3F3F2"/>
                </a:solidFill>
                <a:latin typeface="Tomorrow"/>
                <a:ea typeface="Tomorrow"/>
                <a:cs typeface="Tomorrow"/>
                <a:sym typeface="Tomorrow"/>
              </a:rPr>
              <a:t>Attack Type vs. Resolution Time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2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0" y="-1350947"/>
            <a:ext cx="11563599" cy="6434348"/>
            <a:chOff x="0" y="0"/>
            <a:chExt cx="1149715" cy="63973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49715" cy="639737"/>
            </a:xfrm>
            <a:custGeom>
              <a:avLst/>
              <a:gdLst/>
              <a:ahLst/>
              <a:cxnLst/>
              <a:rect r="r" b="b" t="t" l="l"/>
              <a:pathLst>
                <a:path h="639737" w="1149715">
                  <a:moveTo>
                    <a:pt x="203200" y="0"/>
                  </a:moveTo>
                  <a:lnTo>
                    <a:pt x="1149715" y="0"/>
                  </a:lnTo>
                  <a:lnTo>
                    <a:pt x="946515" y="639737"/>
                  </a:lnTo>
                  <a:lnTo>
                    <a:pt x="0" y="639737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A3D7D8">
                    <a:alpha val="100000"/>
                  </a:srgbClr>
                </a:gs>
                <a:gs pos="100000">
                  <a:srgbClr val="489EAB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101600" y="-57150"/>
              <a:ext cx="946515" cy="6968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3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571409" y="2305232"/>
            <a:ext cx="12129009" cy="7629538"/>
          </a:xfrm>
          <a:custGeom>
            <a:avLst/>
            <a:gdLst/>
            <a:ahLst/>
            <a:cxnLst/>
            <a:rect r="r" b="b" t="t" l="l"/>
            <a:pathLst>
              <a:path h="7629538" w="12129009">
                <a:moveTo>
                  <a:pt x="0" y="0"/>
                </a:moveTo>
                <a:lnTo>
                  <a:pt x="12129009" y="0"/>
                </a:lnTo>
                <a:lnTo>
                  <a:pt x="12129009" y="7629537"/>
                </a:lnTo>
                <a:lnTo>
                  <a:pt x="0" y="76295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431735"/>
            <a:ext cx="12899772" cy="1579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14"/>
              </a:lnSpc>
            </a:pPr>
            <a:r>
              <a:rPr lang="en-US" sz="5357">
                <a:solidFill>
                  <a:srgbClr val="F3F3F2"/>
                </a:solidFill>
                <a:latin typeface="Tomorrow"/>
                <a:ea typeface="Tomorrow"/>
                <a:cs typeface="Tomorrow"/>
                <a:sym typeface="Tomorrow"/>
              </a:rPr>
              <a:t>Exploratory Data Analysis:</a:t>
            </a:r>
          </a:p>
          <a:p>
            <a:pPr algn="l">
              <a:lnSpc>
                <a:spcPts val="6214"/>
              </a:lnSpc>
            </a:pPr>
            <a:r>
              <a:rPr lang="en-US" sz="5357">
                <a:solidFill>
                  <a:srgbClr val="F3F3F2"/>
                </a:solidFill>
                <a:latin typeface="Tomorrow"/>
                <a:ea typeface="Tomorrow"/>
                <a:cs typeface="Tomorrow"/>
                <a:sym typeface="Tomorrow"/>
              </a:rPr>
              <a:t>Yearly Financial Loss Trend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0D2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744247" y="-202937"/>
            <a:ext cx="5744070" cy="8996366"/>
            <a:chOff x="0" y="0"/>
            <a:chExt cx="455234" cy="7129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5234" cy="712988"/>
            </a:xfrm>
            <a:custGeom>
              <a:avLst/>
              <a:gdLst/>
              <a:ahLst/>
              <a:cxnLst/>
              <a:rect r="r" b="b" t="t" l="l"/>
              <a:pathLst>
                <a:path h="712988" w="455234">
                  <a:moveTo>
                    <a:pt x="203200" y="0"/>
                  </a:moveTo>
                  <a:lnTo>
                    <a:pt x="455234" y="0"/>
                  </a:lnTo>
                  <a:lnTo>
                    <a:pt x="252034" y="712988"/>
                  </a:lnTo>
                  <a:lnTo>
                    <a:pt x="0" y="712988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A3D7D8">
                    <a:alpha val="100000"/>
                  </a:srgbClr>
                </a:gs>
                <a:gs pos="100000">
                  <a:srgbClr val="489EAB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101600" y="-57150"/>
              <a:ext cx="252034" cy="7701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3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616283" y="2489825"/>
            <a:ext cx="5671717" cy="8482024"/>
            <a:chOff x="0" y="0"/>
            <a:chExt cx="476758" cy="71298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76758" cy="712988"/>
            </a:xfrm>
            <a:custGeom>
              <a:avLst/>
              <a:gdLst/>
              <a:ahLst/>
              <a:cxnLst/>
              <a:rect r="r" b="b" t="t" l="l"/>
              <a:pathLst>
                <a:path h="712988" w="476758">
                  <a:moveTo>
                    <a:pt x="203200" y="0"/>
                  </a:moveTo>
                  <a:lnTo>
                    <a:pt x="476758" y="0"/>
                  </a:lnTo>
                  <a:lnTo>
                    <a:pt x="273558" y="712988"/>
                  </a:lnTo>
                  <a:lnTo>
                    <a:pt x="0" y="712988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A3D7D8">
                    <a:alpha val="100000"/>
                  </a:srgbClr>
                </a:gs>
                <a:gs pos="100000">
                  <a:srgbClr val="489EAB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101600" y="-57150"/>
              <a:ext cx="273558" cy="7701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3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28700" y="2180111"/>
            <a:ext cx="7746013" cy="5887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71"/>
              </a:lnSpc>
            </a:pPr>
          </a:p>
          <a:p>
            <a:pPr algn="l">
              <a:lnSpc>
                <a:spcPts val="4671"/>
              </a:lnSpc>
            </a:pPr>
            <a:r>
              <a:rPr lang="en-US" sz="28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Findings:</a:t>
            </a:r>
          </a:p>
          <a:p>
            <a:pPr algn="l" marL="626102" indent="-313051" lvl="1">
              <a:lnSpc>
                <a:spcPts val="4671"/>
              </a:lnSpc>
              <a:buFont typeface="Arial"/>
              <a:buChar char="•"/>
            </a:pPr>
            <a:r>
              <a:rPr lang="en-US" sz="28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Finance and Healthcare industries most targeted</a:t>
            </a:r>
          </a:p>
          <a:p>
            <a:pPr algn="l" marL="626102" indent="-313051" lvl="1">
              <a:lnSpc>
                <a:spcPts val="4671"/>
              </a:lnSpc>
              <a:buFont typeface="Arial"/>
              <a:buChar char="•"/>
            </a:pPr>
            <a:r>
              <a:rPr lang="en-US" sz="28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Ransomware financial damage increasing</a:t>
            </a:r>
          </a:p>
          <a:p>
            <a:pPr algn="l" marL="626102" indent="-313051" lvl="1">
              <a:lnSpc>
                <a:spcPts val="4671"/>
              </a:lnSpc>
              <a:buFont typeface="Arial"/>
              <a:buChar char="•"/>
            </a:pPr>
            <a:r>
              <a:rPr lang="en-US" sz="28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Dataset Limitations:</a:t>
            </a:r>
          </a:p>
          <a:p>
            <a:pPr algn="l" marL="1252205" indent="-417402" lvl="2">
              <a:lnSpc>
                <a:spcPts val="4671"/>
              </a:lnSpc>
              <a:buFont typeface="Arial"/>
              <a:buChar char="⚬"/>
            </a:pPr>
            <a:r>
              <a:rPr lang="en-US" sz="28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Possible underreporting</a:t>
            </a:r>
          </a:p>
          <a:p>
            <a:pPr algn="l" marL="1252205" indent="-417402" lvl="2">
              <a:lnSpc>
                <a:spcPts val="4671"/>
              </a:lnSpc>
              <a:buFont typeface="Arial"/>
              <a:buChar char="⚬"/>
            </a:pPr>
            <a:r>
              <a:rPr lang="en-US" sz="28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Variations in reporting standards</a:t>
            </a:r>
          </a:p>
          <a:p>
            <a:pPr algn="l">
              <a:lnSpc>
                <a:spcPts val="4671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1038225"/>
            <a:ext cx="8755389" cy="804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14"/>
              </a:lnSpc>
            </a:pPr>
            <a:r>
              <a:rPr lang="en-US" sz="5357">
                <a:solidFill>
                  <a:srgbClr val="F3F3F2"/>
                </a:solidFill>
                <a:latin typeface="Tomorrow"/>
                <a:ea typeface="Tomorrow"/>
                <a:cs typeface="Tomorrow"/>
                <a:sym typeface="Tomorrow"/>
              </a:rPr>
              <a:t>Insights &amp; Limitations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62120"/>
            <a:chOff x="0" y="0"/>
            <a:chExt cx="4816593" cy="270278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2781"/>
            </a:xfrm>
            <a:custGeom>
              <a:avLst/>
              <a:gdLst/>
              <a:ahLst/>
              <a:cxnLst/>
              <a:rect r="r" b="b" t="t" l="l"/>
              <a:pathLst>
                <a:path h="270278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2781"/>
                  </a:lnTo>
                  <a:lnTo>
                    <a:pt x="0" y="2702781"/>
                  </a:lnTo>
                  <a:close/>
                </a:path>
              </a:pathLst>
            </a:custGeom>
            <a:solidFill>
              <a:srgbClr val="0D232D">
                <a:alpha val="32941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4816593" cy="27599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3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358639" y="7333291"/>
            <a:ext cx="159633" cy="299653"/>
          </a:xfrm>
          <a:custGeom>
            <a:avLst/>
            <a:gdLst/>
            <a:ahLst/>
            <a:cxnLst/>
            <a:rect r="r" b="b" t="t" l="l"/>
            <a:pathLst>
              <a:path h="299653" w="159633">
                <a:moveTo>
                  <a:pt x="0" y="0"/>
                </a:moveTo>
                <a:lnTo>
                  <a:pt x="159633" y="0"/>
                </a:lnTo>
                <a:lnTo>
                  <a:pt x="159633" y="299652"/>
                </a:lnTo>
                <a:lnTo>
                  <a:pt x="0" y="2996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904966" y="4091359"/>
            <a:ext cx="14478069" cy="1439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15"/>
              </a:lnSpc>
            </a:pPr>
            <a:r>
              <a:rPr lang="en-US" b="true" sz="9668">
                <a:solidFill>
                  <a:srgbClr val="F3F3F2"/>
                </a:solidFill>
                <a:latin typeface="Tomorrow Bold"/>
                <a:ea typeface="Tomorrow Bold"/>
                <a:cs typeface="Tomorrow Bold"/>
                <a:sym typeface="Tomorrow Bold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DAGl_9jD5bY</dc:identifier>
  <dcterms:modified xsi:type="dcterms:W3CDTF">2011-08-01T06:04:30Z</dcterms:modified>
  <cp:revision>1</cp:revision>
  <dc:title>Kailyn_Philpot_final</dc:title>
</cp:coreProperties>
</file>